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017520"/>
            <a:ext cx="3200400" cy="640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274320"/>
            <a:ext cx="2688336" cy="71323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274320"/>
            <a:ext cx="26883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E9AA7"/>
                </a:solidFill>
              </a:rPr>
              <a:t>[ ORG LOGO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0E9AA7"/>
                </a:solidFill>
              </a:rPr>
              <a:t>PLACE HERE 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56032" y="3200400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AA7"/>
                </a:solidFill>
              </a:rPr>
              <a:t>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6032" y="3511296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CCDD"/>
                </a:solidFill>
              </a:rPr>
              <a:t>AI Phases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56032" y="3803904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AA7"/>
                </a:solidFill>
              </a:rPr>
              <a:t>7 Weeks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" y="4114800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CCDD"/>
                </a:solidFill>
              </a:rPr>
              <a:t>to MVP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6032" y="4407408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AA7"/>
                </a:solidFill>
              </a:rPr>
              <a:t>UK·SGP·CEP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6032" y="4718304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CCDD"/>
                </a:solidFill>
              </a:rPr>
              <a:t>Regions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56432" y="100584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Plan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3456432" y="2596896"/>
            <a:ext cx="5394960" cy="36576"/>
          </a:xfrm>
          <a:prstGeom prst="rect">
            <a:avLst/>
          </a:prstGeom>
          <a:solidFill>
            <a:srgbClr val="D0DCE8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2706624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B3A"/>
                </a:solidFill>
              </a:rPr>
              <a:t>B&amp;I Data Metrics &amp; Controls Platform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56432" y="309067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0"/>
                </a:solidFill>
              </a:rPr>
              <a:t>Controls Codification Workstream  ·  March 2026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4663440"/>
            <a:ext cx="5943600" cy="4800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4663440"/>
            <a:ext cx="55778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0"/>
                </a:solidFill>
              </a:rPr>
              <a:t>Tableau · Oracle · EAP · B&amp;I Vault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2179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" y="54864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Problem Statement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0E9AA7"/>
                </a:solidFill>
              </a:rPr>
              <a:t>[ ORG LOGO ]</a:t>
            </a:r>
            <a:endParaRPr lang="en-US" sz="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" y="768096"/>
          <a:ext cx="8485632" cy="914400"/>
        </p:xfrm>
        <a:graphic>
          <a:graphicData uri="http://schemas.openxmlformats.org/drawingml/2006/table">
            <a:tbl>
              <a:tblPr/>
              <a:tblGrid>
                <a:gridCol w="475488"/>
                <a:gridCol w="2286000"/>
                <a:gridCol w="5742432"/>
              </a:tblGrid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</a:rPr>
                        <a:t>Manual Monthly Effort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</a:rPr>
                        <a:t>Teams validate controls using Excel Checklist Tool every month — time-intensive and error-prone.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</a:rPr>
                        <a:t>No Real-Time Breach Alerts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</a:rPr>
                        <a:t>KRI breaches (e.g. UK-K41 at 19% vs &lt;70% threshold) are caught late — no proactive detection.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</a:rPr>
                        <a:t>Fragmented Narratives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</a:rPr>
                        <a:t>Executive commentary and Reg Deck are written manually from multiple Tableau views each month.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</a:rPr>
                        <a:t>Multi-System Complexity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</a:rPr>
                        <a:t>Data flows across Eagle, DCRM, Genesis, EAP, BIC Oracle, CCB Oracle, S3 and Tableau — no unified AI layer.</a:t>
                      </a:r>
                      <a:endParaRPr lang="en-US" sz="10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9" name="Text 6"/>
          <p:cNvSpPr/>
          <p:nvPr/>
        </p:nvSpPr>
        <p:spPr>
          <a:xfrm>
            <a:off x="329184" y="4462272"/>
            <a:ext cx="8485632" cy="6812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Solution:  Add an AI intelligence layer on top of the existing Controls Codification platform — automating detection, narrative generation and Q&amp;A without replacing the current architecture.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2179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" y="54864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Current Architecture at a Glance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0E9AA7"/>
                </a:solidFill>
              </a:rPr>
              <a:t>[ ORG LOGO ]</a:t>
            </a:r>
            <a:endParaRPr lang="en-US" sz="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" y="768096"/>
          <a:ext cx="848563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22376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spc="30" kern="0" dirty="0">
                          <a:solidFill>
                            <a:srgbClr val="FFFFFF"/>
                          </a:solidFill>
                        </a:rPr>
                        <a:t>SOURCE SYSTEMS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</a:rPr>
                        <a:t>Eagle  ·  Aqua  ·  DCRM  ·  Genesis  ·  Optima  ·  Others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spc="30" kern="0" dirty="0">
                          <a:solidFill>
                            <a:srgbClr val="FFFFFF"/>
                          </a:solidFill>
                        </a:rPr>
                        <a:t>DATA LAYER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</a:rPr>
                        <a:t>BIC Oracle DB  ·  CCB Oracle DB  ·  EAP  ·  HDFS  ·  S3 (Evidence · Emails · Reg Deck · Raw Files)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spc="30" kern="0" dirty="0">
                          <a:solidFill>
                            <a:srgbClr val="FFFFFF"/>
                          </a:solidFill>
                        </a:rPr>
                        <a:t>SERVICES LAYER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</a:rPr>
                        <a:t>SLA Checker  ·  Maker/Checker  ·  Validation  ·  Email  ·  Audit  ·  Action Logs  ·  Trend Analysis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spc="30" kern="0" dirty="0">
                          <a:solidFill>
                            <a:srgbClr val="FFFFFF"/>
                          </a:solidFill>
                        </a:rPr>
                        <a:t>KRI WORKFLOW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</a:rPr>
                        <a:t>Timeliness → Accuracy → Completeness → Maker → Checker → Variance Analysis → Review → Adjustment → Data Governance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spc="30" kern="0" dirty="0">
                          <a:solidFill>
                            <a:srgbClr val="FFFFFF"/>
                          </a:solidFill>
                        </a:rPr>
                        <a:t>PRESENTATION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35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</a:rPr>
                        <a:t>Tableau (KRI Scorecard · DQ Metrics · UK &amp; SGP Dashboards)  ·  B&amp;I Data Metrics App  ·  B&amp;I Vault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2179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" y="54864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Controls Reference  ·  7 Codified Controls (UK — Banking &amp; International Data)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0E9AA7"/>
                </a:solidFill>
              </a:rPr>
              <a:t>[ ORG LOGO ]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329184" y="768096"/>
            <a:ext cx="8485632" cy="347472"/>
          </a:xfrm>
          <a:prstGeom prst="rect">
            <a:avLst/>
          </a:prstGeom>
          <a:solidFill>
            <a:srgbClr val="F4F7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6809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FA0"/>
                </a:solidFill>
              </a:rPr>
              <a:t>All 7 controls are  Fully Manual  ·  Detective Type  ·  Cyclical / Monthly  ·  Single Checker  ·  Owner: Dawn Higgs  ·  Delegate: Hasmukh Katechiya  ·  Design Assessor: IBC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" y="1152144"/>
          <a:ext cx="8485632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1353312"/>
                <a:gridCol w="786384"/>
                <a:gridCol w="2194560"/>
                <a:gridCol w="1938528"/>
                <a:gridCol w="1938528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Control Title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Current #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Control Objective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Pass Condition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Fail Condition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E9AA7"/>
                          </a:solidFill>
                        </a:rPr>
                        <a:t>Data Provider SLA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E9AA7"/>
                          </a:solidFill>
                        </a:rPr>
                        <a:t>(Timeliness)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7A8FA0"/>
                          </a:solidFill>
                        </a:rPr>
                        <a:t>1088848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2B3A"/>
                          </a:solidFill>
                        </a:rPr>
                        <a:t>Detect non-adherence to data delivery SLAs; mitigate risk of Poor Data Quality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7A3A"/>
                          </a:solidFill>
                        </a:rPr>
                        <a:t>Data received / uploaded to repository per SLA (Bluesheet)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</a:rPr>
                        <a:t>Data NOT received / uploaded as per the agreed SLA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E6DB4"/>
                          </a:solidFill>
                        </a:rPr>
                        <a:t>Completeness &amp;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E6DB4"/>
                          </a:solidFill>
                        </a:rPr>
                        <a:t>Accuracy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7A8FA0"/>
                          </a:solidFill>
                        </a:rPr>
                        <a:t>1088844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2B3A"/>
                          </a:solidFill>
                        </a:rPr>
                        <a:t>Detect inaccuracies and incompleteness by reconciling data across repositories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7A3A"/>
                          </a:solidFill>
                        </a:rPr>
                        <a:t>Data extracted confirmed complete &amp; accurate by the Maker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</a:rPr>
                        <a:t>Data does NOT pass C&amp;A rules — errors are highlighted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</a:rPr>
                        <a:t>Maker Checker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7A8FA0"/>
                          </a:solidFill>
                        </a:rPr>
                        <a:t>1088845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2B3A"/>
                          </a:solidFill>
                        </a:rPr>
                        <a:t>Prevent entry of incomplete, inaccurate or inconsistent data into UK DQ Program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7A3A"/>
                          </a:solidFill>
                        </a:rPr>
                        <a:t>Maker/checker process confirmed executed; checker provides approval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</a:rPr>
                        <a:t>Data source and extract do not align; dashboard details do not align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35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D3591"/>
                          </a:solidFill>
                        </a:rPr>
                        <a:t>Reviews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7A8FA0"/>
                          </a:solidFill>
                        </a:rPr>
                        <a:t>1080300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2B3A"/>
                          </a:solidFill>
                        </a:rPr>
                        <a:t>Ensure accurate, complete, timely submission of reports through governance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7A3A"/>
                          </a:solidFill>
                        </a:rPr>
                        <a:t>Reviews held &amp; evidenced with all key players prior to governance submission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</a:rPr>
                        <a:t>Reviews NOT held with key players prior to governance submission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7A0A"/>
                          </a:solidFill>
                        </a:rPr>
                        <a:t>Variance Analysis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7A8FA0"/>
                          </a:solidFill>
                        </a:rPr>
                        <a:t>1080306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2B3A"/>
                          </a:solidFill>
                        </a:rPr>
                        <a:t>Detect unusual data values and inadequately explained trends month-on-month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7A3A"/>
                          </a:solidFill>
                        </a:rPr>
                        <a:t>Delta ≤ ±10%  ·  RAG status unchanged month-over-month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</a:rPr>
                        <a:t>Delta &gt; ±10%  ·  RAG status has changed — threshold breach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6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6A0A"/>
                          </a:solidFill>
                        </a:rPr>
                        <a:t>Adjustment Tracking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7A8FA0"/>
                          </a:solidFill>
                        </a:rPr>
                        <a:t>1088847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2B3A"/>
                          </a:solidFill>
                        </a:rPr>
                        <a:t>Detect inaccurate or inappropriate data adjustments to the scorecard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7A3A"/>
                          </a:solidFill>
                        </a:rPr>
                        <a:t>Adjustments evidenced by minutes / actions from review meetings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</a:rPr>
                        <a:t>Adjustments made to scorecard NOT appropriately documented / approved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7A3A"/>
                          </a:solidFill>
                        </a:rPr>
                        <a:t>Change Governance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i="1" dirty="0">
                          <a:solidFill>
                            <a:srgbClr val="7A8FA0"/>
                          </a:solidFill>
                        </a:rPr>
                        <a:t>1086525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2B3A"/>
                          </a:solidFill>
                        </a:rPr>
                        <a:t>Ensure all metric changes reviewed &amp; approved through governance before publication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7A3A"/>
                          </a:solidFill>
                        </a:rPr>
                        <a:t>Changes approved at governance forum before publication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</a:rPr>
                        <a:t>Unapproved changes incorporated into metrics or metadata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2179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" y="54864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 Opportunity  ·  Mapped to Each of the 7 Controls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0E9AA7"/>
                </a:solidFill>
              </a:rPr>
              <a:t>[ ORG LOGO ]</a:t>
            </a:r>
            <a:endParaRPr lang="en-US" sz="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" y="768096"/>
          <a:ext cx="8485632" cy="914400"/>
        </p:xfrm>
        <a:graphic>
          <a:graphicData uri="http://schemas.openxmlformats.org/drawingml/2006/table">
            <a:tbl>
              <a:tblPr/>
              <a:tblGrid>
                <a:gridCol w="1261872"/>
                <a:gridCol w="1700784"/>
                <a:gridCol w="1335024"/>
                <a:gridCol w="2560320"/>
                <a:gridCol w="162763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Current Pain (Manual)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AI Component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What AI Does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AI Writes To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6A0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E9AA7"/>
                          </a:solidFill>
                        </a:rPr>
                        <a:t>Data Provider SLA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E9AA7"/>
                          </a:solidFill>
                        </a:rPr>
                        <a:t>(Timeliness)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2B3A"/>
                          </a:solidFill>
                        </a:rPr>
                        <a:t>Manual check each month whether data arrived per SLA; escalation via email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E9AA7"/>
                          </a:solidFill>
                        </a:rPr>
                        <a:t>Breach Detector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2B3A"/>
                          </a:solidFill>
                        </a:rPr>
                        <a:t>Auto-detects SLA breach on BD1 from CSV export; flags missed data providers; drafts escalation email content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96A0A"/>
                          </a:solidFill>
                        </a:rPr>
                        <a:t>AI_BREACH_ALERT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96A0A"/>
                          </a:solidFill>
                        </a:rPr>
                        <a:t>(ALERT_TYPE = IMMEDIATE)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6DB4"/>
                          </a:solidFill>
                        </a:rPr>
                        <a:t>Completeness &amp;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6DB4"/>
                          </a:solidFill>
                        </a:rPr>
                        <a:t>Accuracy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2B3A"/>
                          </a:solidFill>
                        </a:rPr>
                        <a:t>Maker manually reconciles source vs destination data row by row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6DB4"/>
                          </a:solidFill>
                        </a:rPr>
                        <a:t>AI Pre-Validator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2B3A"/>
                          </a:solidFill>
                        </a:rPr>
                        <a:t>Reads C&amp;A export CSV; auto-identifies false positives and mismatches before Maker reviews; reduces BD1→BD4 effort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96A0A"/>
                          </a:solidFill>
                        </a:rPr>
                        <a:t>BIC_KRI_CONTROL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96A0A"/>
                          </a:solidFill>
                        </a:rPr>
                        <a:t>STATUS_TRACKER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3A6B"/>
                          </a:solidFill>
                        </a:rPr>
                        <a:t>Maker Checker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2B3A"/>
                          </a:solidFill>
                        </a:rPr>
                        <a:t>Maker manually pulls data from Tableau, SharePoint and emails; Checker manually verifies alignment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3A6B"/>
                          </a:solidFill>
                        </a:rPr>
                        <a:t>AI Pre-Validator +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B3A6B"/>
                          </a:solidFill>
                        </a:rPr>
                        <a:t>Narrative Generator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2B3A"/>
                          </a:solidFill>
                        </a:rPr>
                        <a:t>Pre-drafts short comment for Maker; flags anomalous DCIDs; Checker AI validates source-vs-dashboard alignment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96A0A"/>
                          </a:solidFill>
                        </a:rPr>
                        <a:t>BIC_SCORECARD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96A0A"/>
                          </a:solidFill>
                        </a:rPr>
                        <a:t>AI_NOTES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D3591"/>
                          </a:solidFill>
                        </a:rPr>
                        <a:t>Reviews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2B3A"/>
                          </a:solidFill>
                        </a:rPr>
                        <a:t>Management review commentary written manually; no automated detection of material breaches before meeting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D3591"/>
                          </a:solidFill>
                        </a:rPr>
                        <a:t>Narrative Generator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2B3A"/>
                          </a:solidFill>
                        </a:rPr>
                        <a:t>Generates pre-meeting executive commentary highlighting material breaches, deteriorations and escalation candidates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96A0A"/>
                          </a:solidFill>
                        </a:rPr>
                        <a:t>BIC_SCORECARD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96A0A"/>
                          </a:solidFill>
                        </a:rPr>
                        <a:t>AI_NOTES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7A0A"/>
                          </a:solidFill>
                        </a:rPr>
                        <a:t>Variance Analysis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2B3A"/>
                          </a:solidFill>
                        </a:rPr>
                        <a:t>Monthly reasonability check done manually; commentary sourced manually from data providers for &gt;10% variances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7A0A"/>
                          </a:solidFill>
                        </a:rPr>
                        <a:t>Variance Analysis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2B3A"/>
                          </a:solidFill>
                        </a:rPr>
                        <a:t>Auto-detects delta &gt;±10% or RAG changes; cross-references LOB/cluster; drafts commentary for data provider sign-off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96A0A"/>
                          </a:solidFill>
                        </a:rPr>
                        <a:t>BIC_KRI_COMMENT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96A0A"/>
                          </a:solidFill>
                        </a:rPr>
                        <a:t>(existing table)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6A0A"/>
                          </a:solidFill>
                        </a:rPr>
                        <a:t>Adjustment Tracking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2B3A"/>
                          </a:solidFill>
                        </a:rPr>
                        <a:t>Operator manually verifies each metric adjustment has an approval email; notifies analyst if missing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6A0A"/>
                          </a:solidFill>
                        </a:rPr>
                        <a:t>AI Pre-Validator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2B3A"/>
                          </a:solidFill>
                        </a:rPr>
                        <a:t>Scans adjustment export; flags metrics without approval confirmation; drafts notification to reporting analyst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96A0A"/>
                          </a:solidFill>
                        </a:rPr>
                        <a:t>BIC_SCORECARD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96A0A"/>
                          </a:solidFill>
                        </a:rPr>
                        <a:t>AI_NOTES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7A3A"/>
                          </a:solidFill>
                        </a:rPr>
                        <a:t>Change 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2B3A"/>
                          </a:solidFill>
                        </a:rPr>
                        <a:t>Ad-hoc manual review at governance forum; metric metadata updated manually after approval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7A3A"/>
                          </a:solidFill>
                        </a:rPr>
                        <a:t>Narrative Generator +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7A3A"/>
                          </a:solidFill>
                        </a:rPr>
                        <a:t>Brech Detector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C2B3A"/>
                          </a:solidFill>
                        </a:rPr>
                        <a:t>Monitors for unapproved metric definition changes in CSV; auto-flags in breach alert; drafts governance summary note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96A0A"/>
                          </a:solidFill>
                        </a:rPr>
                        <a:t>AI_BREACH_ALERT</a:t>
                      </a:r>
                      <a:endParaRPr lang="en-US" sz="850" dirty="0"/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C96A0A"/>
                          </a:solidFill>
                        </a:rPr>
                        <a:t>(ALERT_TYPE = GOVERNANCE)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2179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" y="54864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Where AI Fits Into Your Existing 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0E9AA7"/>
                </a:solidFill>
              </a:rPr>
              <a:t>[ ORG LOGO ]</a:t>
            </a:r>
            <a:endParaRPr lang="en-US" sz="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" y="768096"/>
          <a:ext cx="8485632" cy="914400"/>
        </p:xfrm>
        <a:graphic>
          <a:graphicData uri="http://schemas.openxmlformats.org/drawingml/2006/table">
            <a:tbl>
              <a:tblPr/>
              <a:tblGrid>
                <a:gridCol w="402336"/>
                <a:gridCol w="1645920"/>
                <a:gridCol w="1737360"/>
                <a:gridCol w="2834640"/>
                <a:gridCol w="1883664"/>
              </a:tblGrid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Existing Step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AI Component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Benefit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SLA / DQ Engine Output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9AA7"/>
                          </a:solidFill>
                        </a:rPr>
                        <a:t>NL2SQL Agent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Natural language queries on BIC Oracle / CCB Oracle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</a:rPr>
                        <a:t>Instant KRI Q&amp;A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After C&amp;A Check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Breach Detector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Detects RAG breaches, trend drops and sustained Amber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</a:rPr>
                        <a:t>Proactive alerts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359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Variance Analysis → Review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D3591"/>
                          </a:solidFill>
                        </a:rPr>
                        <a:t>Narrative Generator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Auto-writes commentary to BIC_SCORECARD.NOTES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</a:rPr>
                        <a:t>Saves analyst time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Maker Step Pre-Check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7A0A"/>
                          </a:solidFill>
                        </a:rPr>
                        <a:t>AI Pre-Validator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Flags anomalous DCIDs, reduces BD1→BD4 manual effort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</a:rPr>
                        <a:t>Faster SLA closure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Deck Creation Service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6DB4"/>
                          </a:solidFill>
                        </a:rPr>
                        <a:t>Auto Report Generator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Assembles narrative + tables + alerts → PPT / PDF / Word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</a:rPr>
                        <a:t>Automated Reg Deck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2179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" y="54864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Phase 1  ·  NL2SQL Agent on KRI Data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0E9AA7"/>
                </a:solidFill>
              </a:rPr>
              <a:t>[ ORG LOGO ]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329184" y="768096"/>
            <a:ext cx="4114800" cy="4005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" y="768096"/>
            <a:ext cx="4114800" cy="5486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877824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What it does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" y="1188720"/>
            <a:ext cx="8485632" cy="16459"/>
          </a:xfrm>
          <a:prstGeom prst="rect">
            <a:avLst/>
          </a:prstGeom>
          <a:solidFill>
            <a:srgbClr val="D0DCE8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1444752"/>
            <a:ext cx="64008" cy="32918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1389888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</a:rPr>
              <a:t>Ask questions in plain English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" y="1627632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0"/>
                </a:solidFill>
              </a:rPr>
              <a:t>via the B&amp;I Data Metrics &amp; Controls UI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" y="2139696"/>
            <a:ext cx="64008" cy="32918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084832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</a:rPr>
              <a:t>LangChain + Gemini converts to SQL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" y="2322576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0"/>
                </a:solidFill>
              </a:rPr>
              <a:t>against BIC Oracle / CCB Oracle schema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2834640"/>
            <a:ext cx="64008" cy="32918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2779776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</a:rPr>
              <a:t>Results returned as table or chart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" y="3017520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0"/>
                </a:solidFill>
              </a:rPr>
              <a:t>directly inside the dashboard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" y="3529584"/>
            <a:ext cx="64008" cy="32918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3474720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</a:rPr>
              <a:t>Covers UK, SGP and CEP KRI data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" y="3712464"/>
            <a:ext cx="3675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0"/>
                </a:solidFill>
              </a:rPr>
              <a:t>filtered via BIC_USER_REGION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" y="4151376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FA0"/>
                </a:solidFill>
              </a:rPr>
              <a:t>Tables:  BIC_KRI_CONFIG  ·  BIC_CA_DATA  ·  BIC_USER_REGION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438912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FA0"/>
                </a:solidFill>
              </a:rPr>
              <a:t>Stack:  Python  ·  FastAPI  ·  LangChain  ·  Gemini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0016" y="768096"/>
            <a:ext cx="4114800" cy="4005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0016" y="768096"/>
            <a:ext cx="411480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877824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Example queries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9184" y="1188720"/>
            <a:ext cx="8485632" cy="16459"/>
          </a:xfrm>
          <a:prstGeom prst="rect">
            <a:avLst/>
          </a:prstGeom>
          <a:solidFill>
            <a:srgbClr val="D0DCE8"/>
          </a:solidFill>
          <a:ln/>
        </p:spPr>
      </p:sp>
      <p:sp>
        <p:nvSpPr>
          <p:cNvPr id="29" name="Shape 27"/>
          <p:cNvSpPr/>
          <p:nvPr/>
        </p:nvSpPr>
        <p:spPr>
          <a:xfrm>
            <a:off x="4828032" y="1280160"/>
            <a:ext cx="3858768" cy="530352"/>
          </a:xfrm>
          <a:prstGeom prst="rect">
            <a:avLst/>
          </a:prstGeom>
          <a:solidFill>
            <a:srgbClr val="F4F7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01184" y="1280160"/>
            <a:ext cx="3712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6DB4"/>
                </a:solidFill>
              </a:rPr>
              <a:t>"Which UK KRIs are RED this month and past their SLA?"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28032" y="1883664"/>
            <a:ext cx="3858768" cy="530352"/>
          </a:xfrm>
          <a:prstGeom prst="rect">
            <a:avLst/>
          </a:prstGeom>
          <a:solidFill>
            <a:srgbClr val="F4F7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01184" y="1883664"/>
            <a:ext cx="3712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6DB4"/>
                </a:solidFill>
              </a:rPr>
              <a:t>"Compare SGP vs UK completeness pass rate for last 6 months"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28032" y="2487168"/>
            <a:ext cx="3858768" cy="530352"/>
          </a:xfrm>
          <a:prstGeom prst="rect">
            <a:avLst/>
          </a:prstGeom>
          <a:solidFill>
            <a:srgbClr val="F4F7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2487168"/>
            <a:ext cx="3712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6DB4"/>
                </a:solidFill>
              </a:rPr>
              <a:t>"Show all KRIs in Maker stage with High severity"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28032" y="3090672"/>
            <a:ext cx="3858768" cy="530352"/>
          </a:xfrm>
          <a:prstGeom prst="rect">
            <a:avLst/>
          </a:prstGeom>
          <a:solidFill>
            <a:srgbClr val="F4F7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3090672"/>
            <a:ext cx="3712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6DB4"/>
                </a:solidFill>
              </a:rPr>
              <a:t>"Which Data Concerns under UK-K41 are still in Closure Review?"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28032" y="3694176"/>
            <a:ext cx="3858768" cy="530352"/>
          </a:xfrm>
          <a:prstGeom prst="rect">
            <a:avLst/>
          </a:prstGeom>
          <a:solidFill>
            <a:srgbClr val="F4F7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01184" y="3694176"/>
            <a:ext cx="3712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6DB4"/>
                </a:solidFill>
              </a:rPr>
              <a:t>"List KRIs breaching threshold for more than 2 consecutive months"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2179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" y="54864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Phase 2  ·  KRI Breach Detector &amp; Alert Feed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0E9AA7"/>
                </a:solidFill>
              </a:rPr>
              <a:t>[ ORG LOGO ]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329184" y="822960"/>
            <a:ext cx="2706624" cy="1572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" y="822960"/>
            <a:ext cx="2706624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50976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Immediate Breach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8FA0"/>
                </a:solidFill>
              </a:rPr>
              <a:t>Value crosses RAG threshold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" y="1554480"/>
            <a:ext cx="8485632" cy="16459"/>
          </a:xfrm>
          <a:prstGeom prst="rect">
            <a:avLst/>
          </a:prstGeom>
          <a:solidFill>
            <a:srgbClr val="D0DCE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45920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</a:rPr>
              <a:t>UK-K41: 19%  vs  &lt;70%  →  RED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18688" y="822960"/>
            <a:ext cx="2706624" cy="1572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822960"/>
            <a:ext cx="2706624" cy="64008"/>
          </a:xfrm>
          <a:prstGeom prst="rect">
            <a:avLst/>
          </a:prstGeom>
          <a:solidFill>
            <a:srgbClr val="C97A0A"/>
          </a:solidFill>
          <a:ln/>
        </p:spPr>
      </p:sp>
      <p:sp>
        <p:nvSpPr>
          <p:cNvPr id="15" name="Text 13"/>
          <p:cNvSpPr/>
          <p:nvPr/>
        </p:nvSpPr>
        <p:spPr>
          <a:xfrm>
            <a:off x="3346704" y="950976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Trend Deterioration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46704" y="1280160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8FA0"/>
                </a:solidFill>
              </a:rPr>
              <a:t>3-month declining pattern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9184" y="1554480"/>
            <a:ext cx="8485632" cy="16459"/>
          </a:xfrm>
          <a:prstGeom prst="rect">
            <a:avLst/>
          </a:prstGeom>
          <a:solidFill>
            <a:srgbClr val="D0DCE8"/>
          </a:solidFill>
          <a:ln/>
        </p:spPr>
      </p:sp>
      <p:sp>
        <p:nvSpPr>
          <p:cNvPr id="18" name="Text 16"/>
          <p:cNvSpPr/>
          <p:nvPr/>
        </p:nvSpPr>
        <p:spPr>
          <a:xfrm>
            <a:off x="3346704" y="1645920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7A0A"/>
                </a:solidFill>
              </a:rPr>
              <a:t>UK-K42: 95%→85%→62%→47% — escalate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08192" y="822960"/>
            <a:ext cx="2706624" cy="1572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08192" y="822960"/>
            <a:ext cx="2706624" cy="64008"/>
          </a:xfrm>
          <a:prstGeom prst="rect">
            <a:avLst/>
          </a:prstGeom>
          <a:solidFill>
            <a:srgbClr val="B8760A"/>
          </a:solidFill>
          <a:ln/>
        </p:spPr>
      </p:sp>
      <p:sp>
        <p:nvSpPr>
          <p:cNvPr id="21" name="Text 19"/>
          <p:cNvSpPr/>
          <p:nvPr/>
        </p:nvSpPr>
        <p:spPr>
          <a:xfrm>
            <a:off x="6236208" y="950976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Sustained Amber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6208" y="1280160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8FA0"/>
                </a:solidFill>
              </a:rPr>
              <a:t>Amber for 2+ months in a row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9184" y="1554480"/>
            <a:ext cx="8485632" cy="16459"/>
          </a:xfrm>
          <a:prstGeom prst="rect">
            <a:avLst/>
          </a:prstGeom>
          <a:solidFill>
            <a:srgbClr val="D0DCE8"/>
          </a:solidFill>
          <a:ln/>
        </p:spPr>
      </p:sp>
      <p:sp>
        <p:nvSpPr>
          <p:cNvPr id="24" name="Text 22"/>
          <p:cNvSpPr/>
          <p:nvPr/>
        </p:nvSpPr>
        <p:spPr>
          <a:xfrm>
            <a:off x="6236208" y="1645920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760A"/>
                </a:solidFill>
              </a:rPr>
              <a:t>Alert raised before going RED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9184" y="2523744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How it plugs into your existing architecture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9184" y="2816352"/>
            <a:ext cx="8485632" cy="16459"/>
          </a:xfrm>
          <a:prstGeom prst="rect">
            <a:avLst/>
          </a:prstGeom>
          <a:solidFill>
            <a:srgbClr val="D0DCE8"/>
          </a:solidFill>
          <a:ln/>
        </p:spPr>
      </p:sp>
      <p:sp>
        <p:nvSpPr>
          <p:cNvPr id="27" name="Shape 25"/>
          <p:cNvSpPr/>
          <p:nvPr/>
        </p:nvSpPr>
        <p:spPr>
          <a:xfrm>
            <a:off x="585216" y="2889504"/>
            <a:ext cx="1463040" cy="1060704"/>
          </a:xfrm>
          <a:prstGeom prst="rect">
            <a:avLst/>
          </a:prstGeom>
          <a:solidFill>
            <a:srgbClr val="F4F7FB"/>
          </a:solidFill>
          <a:ln w="10160">
            <a:solidFill>
              <a:srgbClr val="2E6DB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" y="2889504"/>
            <a:ext cx="1463040" cy="4572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29" name="Text 27"/>
          <p:cNvSpPr/>
          <p:nvPr/>
        </p:nvSpPr>
        <p:spPr>
          <a:xfrm>
            <a:off x="585216" y="2999232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3A6B"/>
                </a:solidFill>
              </a:rPr>
              <a:t>BIC_KRI_CONFIG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3A6B"/>
                </a:solidFill>
              </a:rPr>
              <a:t>+ BIC_CA_DATA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5216" y="37124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8FA0"/>
                </a:solidFill>
              </a:rPr>
              <a:t>Data source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048256" y="3273552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B4"/>
                </a:solidFill>
              </a:rPr>
              <a:t>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212848" y="2889504"/>
            <a:ext cx="1463040" cy="1060704"/>
          </a:xfrm>
          <a:prstGeom prst="rect">
            <a:avLst/>
          </a:prstGeom>
          <a:solidFill>
            <a:srgbClr val="F4F7FB"/>
          </a:solidFill>
          <a:ln w="10160">
            <a:solidFill>
              <a:srgbClr val="2E6DB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12848" y="2889504"/>
            <a:ext cx="1463040" cy="4572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34" name="Text 32"/>
          <p:cNvSpPr/>
          <p:nvPr/>
        </p:nvSpPr>
        <p:spPr>
          <a:xfrm>
            <a:off x="2212848" y="2999232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3A6B"/>
                </a:solidFill>
              </a:rPr>
              <a:t>Python Breach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3A6B"/>
                </a:solidFill>
              </a:rPr>
              <a:t>Detector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212848" y="37124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8FA0"/>
                </a:solidFill>
              </a:rPr>
              <a:t>Scheduled job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675888" y="3273552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B4"/>
                </a:solidFill>
              </a:rPr>
              <a:t>›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40480" y="2889504"/>
            <a:ext cx="1463040" cy="1060704"/>
          </a:xfrm>
          <a:prstGeom prst="rect">
            <a:avLst/>
          </a:prstGeom>
          <a:solidFill>
            <a:srgbClr val="F4F7FB"/>
          </a:solidFill>
          <a:ln w="10160">
            <a:solidFill>
              <a:srgbClr val="2E6DB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0" y="2889504"/>
            <a:ext cx="1463040" cy="4572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39" name="Text 37"/>
          <p:cNvSpPr/>
          <p:nvPr/>
        </p:nvSpPr>
        <p:spPr>
          <a:xfrm>
            <a:off x="3840480" y="2999232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3A6B"/>
                </a:solidFill>
              </a:rPr>
              <a:t>Enriched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3A6B"/>
                </a:solidFill>
              </a:rPr>
              <a:t>ALERT table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840480" y="37124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8FA0"/>
                </a:solidFill>
              </a:rPr>
              <a:t>Breach flags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303520" y="3273552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B4"/>
                </a:solidFill>
              </a:rPr>
              <a:t>›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468112" y="2889504"/>
            <a:ext cx="1463040" cy="1060704"/>
          </a:xfrm>
          <a:prstGeom prst="rect">
            <a:avLst/>
          </a:prstGeom>
          <a:solidFill>
            <a:srgbClr val="F4F7FB"/>
          </a:solidFill>
          <a:ln w="10160">
            <a:solidFill>
              <a:srgbClr val="2E6DB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68112" y="2889504"/>
            <a:ext cx="1463040" cy="4572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44" name="Text 42"/>
          <p:cNvSpPr/>
          <p:nvPr/>
        </p:nvSpPr>
        <p:spPr>
          <a:xfrm>
            <a:off x="5468112" y="2999232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3A6B"/>
                </a:solidFill>
              </a:rPr>
              <a:t>Scheduler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3A6B"/>
                </a:solidFill>
              </a:rPr>
              <a:t>+ SLA Checker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468112" y="37124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8FA0"/>
                </a:solidFill>
              </a:rPr>
              <a:t>Existing service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931152" y="3273552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DB4"/>
                </a:solidFill>
              </a:rPr>
              <a:t>›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095744" y="2889504"/>
            <a:ext cx="1463040" cy="1060704"/>
          </a:xfrm>
          <a:prstGeom prst="rect">
            <a:avLst/>
          </a:prstGeom>
          <a:solidFill>
            <a:srgbClr val="F4F7FB"/>
          </a:solidFill>
          <a:ln w="10160">
            <a:solidFill>
              <a:srgbClr val="2E6DB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95744" y="2889504"/>
            <a:ext cx="1463040" cy="4572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49" name="Text 47"/>
          <p:cNvSpPr/>
          <p:nvPr/>
        </p:nvSpPr>
        <p:spPr>
          <a:xfrm>
            <a:off x="7095744" y="2999232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3A6B"/>
                </a:solidFill>
              </a:rPr>
              <a:t>B&amp;I Dashboard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3A6B"/>
                </a:solidFill>
              </a:rPr>
              <a:t>Alert Panel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095744" y="37124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8FA0"/>
                </a:solidFill>
              </a:rPr>
              <a:t>User notification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2179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" y="54864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Phase 3  ·  AI Narrative Generator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0E9AA7"/>
                </a:solidFill>
              </a:rPr>
              <a:t>[ ORG LOGO ]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329184" y="786384"/>
            <a:ext cx="2633472" cy="3108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" y="786384"/>
            <a:ext cx="2633472" cy="402336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78638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225296"/>
            <a:ext cx="23774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·  KRI current &amp; previous month values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670304"/>
            <a:ext cx="23774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·  RAG status  (R / A / G)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115312"/>
            <a:ext cx="23774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·  Red threshold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23774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·  3-month trend direction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005328"/>
            <a:ext cx="23774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·  Region  (UK / SGP / CEP)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450336"/>
            <a:ext cx="23774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·  Breach duration in months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80944" y="2167128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DB4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218688" y="786384"/>
            <a:ext cx="2633472" cy="3108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18688" y="786384"/>
            <a:ext cx="2633472" cy="402336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7"/>
          <p:cNvSpPr/>
          <p:nvPr/>
        </p:nvSpPr>
        <p:spPr>
          <a:xfrm>
            <a:off x="3346704" y="78638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 Prompt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46704" y="1225296"/>
            <a:ext cx="23774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2B3A"/>
                </a:solidFill>
              </a:rPr>
              <a:t>"You are a risk analyst.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46704" y="1670304"/>
            <a:ext cx="23774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2B3A"/>
                </a:solidFill>
              </a:rPr>
              <a:t>Given this KRI data for {region},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46704" y="2115312"/>
            <a:ext cx="23774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2B3A"/>
                </a:solidFill>
              </a:rPr>
              <a:t>write a 3-paragraph executive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46704" y="2560320"/>
            <a:ext cx="23774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2B3A"/>
                </a:solidFill>
              </a:rPr>
              <a:t>commentary highlighting key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46704" y="3005328"/>
            <a:ext cx="23774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2B3A"/>
                </a:solidFill>
              </a:rPr>
              <a:t>breaches, trends, and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46704" y="3450336"/>
            <a:ext cx="23774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2B3A"/>
                </a:solidFill>
              </a:rPr>
              <a:t>recommended actions."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70448" y="2167128"/>
            <a:ext cx="2194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DB4"/>
                </a:solidFill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108192" y="786384"/>
            <a:ext cx="2633472" cy="3108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08192" y="786384"/>
            <a:ext cx="2633472" cy="402336"/>
          </a:xfrm>
          <a:prstGeom prst="rect">
            <a:avLst/>
          </a:prstGeom>
          <a:solidFill>
            <a:srgbClr val="6D3591"/>
          </a:solidFill>
          <a:ln/>
        </p:spPr>
      </p:sp>
      <p:sp>
        <p:nvSpPr>
          <p:cNvPr id="29" name="Text 27"/>
          <p:cNvSpPr/>
          <p:nvPr/>
        </p:nvSpPr>
        <p:spPr>
          <a:xfrm>
            <a:off x="6236208" y="78638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Output Destinations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36208" y="1225296"/>
            <a:ext cx="23774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·  BIC_SCORECARD.AI_NOTES  (new)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36208" y="1670304"/>
            <a:ext cx="23774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·  Observatory Commentary (Vault)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36208" y="2115312"/>
            <a:ext cx="23774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·  Word / PDF monthly report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36208" y="2560320"/>
            <a:ext cx="23774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·  Deck Creation Service (Reg Deck)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36208" y="3005328"/>
            <a:ext cx="23774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·  Executive email summary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9184" y="4023360"/>
            <a:ext cx="8485632" cy="804672"/>
          </a:xfrm>
          <a:prstGeom prst="rect">
            <a:avLst/>
          </a:prstGeom>
          <a:solidFill>
            <a:srgbClr val="F4F7FB"/>
          </a:solidFill>
          <a:ln w="7620">
            <a:solidFill>
              <a:srgbClr val="D0DC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" y="4023360"/>
            <a:ext cx="64008" cy="804672"/>
          </a:xfrm>
          <a:prstGeom prst="rect">
            <a:avLst/>
          </a:prstGeom>
          <a:solidFill>
            <a:srgbClr val="6D3591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" y="40965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3591"/>
                </a:solidFill>
              </a:rPr>
              <a:t>Sample Output: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5488" y="4352544"/>
            <a:ext cx="8284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2B3A"/>
                </a:solidFill>
              </a:rPr>
              <a:t>"UK Data Governance Effectiveness remains in breach for Apr-26 (RAG: RED). UK-K41 SLA compliance is at 19%, significantly below the 70% threshold, driven by open Data Concerns in Closure Review across Finance and Risk clusters. Immediate escalation to Hasmukh Katechiya is recommended."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2179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" y="54864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Phase 4 &amp; 5  ·  AI Pre-Validator  +  Variance Analysis AI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0E9AA7"/>
                </a:solidFill>
              </a:rPr>
              <a:t>[ ORG LOGO ]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329184" y="786384"/>
            <a:ext cx="4114800" cy="4005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" y="786384"/>
            <a:ext cx="4114800" cy="64008"/>
          </a:xfrm>
          <a:prstGeom prst="rect">
            <a:avLst/>
          </a:prstGeom>
          <a:solidFill>
            <a:srgbClr val="C97A0A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" y="786384"/>
            <a:ext cx="4114800" cy="420624"/>
          </a:xfrm>
          <a:prstGeom prst="rect">
            <a:avLst/>
          </a:prstGeom>
          <a:solidFill>
            <a:srgbClr val="F4F7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786384"/>
            <a:ext cx="3822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A0A"/>
                </a:solidFill>
              </a:rPr>
              <a:t>Phase 4 — AI Pre-Validator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" y="1298448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Where it fits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1545336"/>
            <a:ext cx="382219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Between Completeness &amp; Accuracy Checker and the Maker step in the KRI Control Flow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135124"/>
            <a:ext cx="3858768" cy="16459"/>
          </a:xfrm>
          <a:prstGeom prst="rect">
            <a:avLst/>
          </a:prstGeom>
          <a:solidFill>
            <a:srgbClr val="D0DCE8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17170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What it does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2418588"/>
            <a:ext cx="382219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Reviews COMPLETENESS_CHECK and ACCURACY_CHECK — identifies false positives before Maker reviews them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008376"/>
            <a:ext cx="3858768" cy="16459"/>
          </a:xfrm>
          <a:prstGeom prst="rect">
            <a:avLst/>
          </a:prstGeom>
          <a:solidFill>
            <a:srgbClr val="D0DCE8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304495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Outputs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" y="3291840"/>
            <a:ext cx="382219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Pre-drafted comment for Maker  ·  Flags anomalous DCIDs needing human attention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881628"/>
            <a:ext cx="3858768" cy="16459"/>
          </a:xfrm>
          <a:prstGeom prst="rect">
            <a:avLst/>
          </a:prstGeom>
          <a:solidFill>
            <a:srgbClr val="D0DCE8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3918204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Key benefit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" y="4165092"/>
            <a:ext cx="382219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Reduces BD1→BD4 manual effort — critical for meeting the SLA window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0016" y="786384"/>
            <a:ext cx="4114800" cy="4005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0016" y="786384"/>
            <a:ext cx="4114800" cy="64008"/>
          </a:xfrm>
          <a:prstGeom prst="rect">
            <a:avLst/>
          </a:prstGeom>
          <a:solidFill>
            <a:srgbClr val="1A7A3A"/>
          </a:solidFill>
          <a:ln/>
        </p:spPr>
      </p:sp>
      <p:sp>
        <p:nvSpPr>
          <p:cNvPr id="24" name="Shape 22"/>
          <p:cNvSpPr/>
          <p:nvPr/>
        </p:nvSpPr>
        <p:spPr>
          <a:xfrm>
            <a:off x="4700016" y="786384"/>
            <a:ext cx="4114800" cy="420624"/>
          </a:xfrm>
          <a:prstGeom prst="rect">
            <a:avLst/>
          </a:prstGeom>
          <a:solidFill>
            <a:srgbClr val="F4F7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786384"/>
            <a:ext cx="3822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3A"/>
                </a:solidFill>
              </a:rPr>
              <a:t>Phase 5 — Variance Analysis AI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846320" y="1298448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Where it fits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1545336"/>
            <a:ext cx="382219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Enhances existing Trend Analysis Service and Variance Analysis workflow step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28032" y="2135124"/>
            <a:ext cx="3858768" cy="16459"/>
          </a:xfrm>
          <a:prstGeom prst="rect">
            <a:avLst/>
          </a:prstGeom>
          <a:solidFill>
            <a:srgbClr val="D0DCE8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217170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What it does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2418588"/>
            <a:ext cx="382219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Detects when CURRENT_MONTH_VALUE deviates from PREVIOUS — AI cross-references LOB, cluster and legal entity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28032" y="3008376"/>
            <a:ext cx="3858768" cy="16459"/>
          </a:xfrm>
          <a:prstGeom prst="rect">
            <a:avLst/>
          </a:prstGeom>
          <a:solidFill>
            <a:srgbClr val="D0DCE8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04495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Outputs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291840"/>
            <a:ext cx="382219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Auto-written variance comment → BIC_SCORECARD.AI_NOTES  ·  Highlighted in Reg Deck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28032" y="3881628"/>
            <a:ext cx="3858768" cy="16459"/>
          </a:xfrm>
          <a:prstGeom prst="rect">
            <a:avLst/>
          </a:prstGeom>
          <a:solidFill>
            <a:srgbClr val="D0DCE8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3918204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Example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4165092"/>
            <a:ext cx="382219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"Jump in UK-K29 from 0 to 15 in Feb-25 correlates with increased Intake in EMEA CDO cluster"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2179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" y="54864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Implementation Roadmap  —  7 Weeks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0E9AA7"/>
                </a:solidFill>
              </a:rPr>
              <a:t>[ ORG LOGO ]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329184" y="768096"/>
            <a:ext cx="1638605" cy="3968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" y="768096"/>
            <a:ext cx="1638605" cy="640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" y="768096"/>
            <a:ext cx="1638605" cy="658368"/>
          </a:xfrm>
          <a:prstGeom prst="rect">
            <a:avLst/>
          </a:prstGeom>
          <a:solidFill>
            <a:srgbClr val="F4F7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822960"/>
            <a:ext cx="14923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9AA7"/>
                </a:solidFill>
              </a:rPr>
              <a:t>Phase 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02336" y="1042416"/>
            <a:ext cx="14923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8FA0"/>
                </a:solidFill>
              </a:rPr>
              <a:t>Weeks 1–2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2336" y="1225296"/>
            <a:ext cx="149230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9AA7"/>
                </a:solidFill>
              </a:rPr>
              <a:t>★ Start here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02336" y="1499616"/>
            <a:ext cx="14923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NL2SQL Agent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" y="1938528"/>
            <a:ext cx="1492301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3A"/>
                </a:solidFill>
              </a:rPr>
              <a:t>·  LangChain + Gemini on BIC Oracle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2336" y="2638044"/>
            <a:ext cx="1492301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3A"/>
                </a:solidFill>
              </a:rPr>
              <a:t>·  Chat UI in B&amp;I Dashboard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02336" y="3337560"/>
            <a:ext cx="1492301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3A"/>
                </a:solidFill>
              </a:rPr>
              <a:t>·  Reuses your existing stack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02336" y="4037076"/>
            <a:ext cx="1492301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3A"/>
                </a:solidFill>
              </a:rPr>
              <a:t>·  CONFIG + CA_DATA + REGION schema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40941" y="768096"/>
            <a:ext cx="1638605" cy="3968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40941" y="768096"/>
            <a:ext cx="1638605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Shape 18"/>
          <p:cNvSpPr/>
          <p:nvPr/>
        </p:nvSpPr>
        <p:spPr>
          <a:xfrm>
            <a:off x="2040941" y="768096"/>
            <a:ext cx="1638605" cy="658368"/>
          </a:xfrm>
          <a:prstGeom prst="rect">
            <a:avLst/>
          </a:prstGeom>
          <a:solidFill>
            <a:srgbClr val="F4F7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14093" y="822960"/>
            <a:ext cx="14923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</a:rPr>
              <a:t>Phase 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14093" y="1042416"/>
            <a:ext cx="14923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8FA0"/>
                </a:solidFill>
              </a:rPr>
              <a:t>Week 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14093" y="1499616"/>
            <a:ext cx="14923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Breach Detector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14093" y="1938528"/>
            <a:ext cx="1492301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3A"/>
                </a:solidFill>
              </a:rPr>
              <a:t>·  Python scheduled job on Oracle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114093" y="2638044"/>
            <a:ext cx="1492301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3A"/>
                </a:solidFill>
              </a:rPr>
              <a:t>·  Breach + trend + Amber rules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114093" y="3337560"/>
            <a:ext cx="1492301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3A"/>
                </a:solidFill>
              </a:rPr>
              <a:t>·  Alert feed to SLA Checker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114093" y="4037076"/>
            <a:ext cx="1492301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3A"/>
                </a:solidFill>
              </a:rPr>
              <a:t>·  Email via existing Email Service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52698" y="768096"/>
            <a:ext cx="1638605" cy="3968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52698" y="768096"/>
            <a:ext cx="1638605" cy="64008"/>
          </a:xfrm>
          <a:prstGeom prst="rect">
            <a:avLst/>
          </a:prstGeom>
          <a:solidFill>
            <a:srgbClr val="6D3591"/>
          </a:solidFill>
          <a:ln/>
        </p:spPr>
      </p:sp>
      <p:sp>
        <p:nvSpPr>
          <p:cNvPr id="30" name="Shape 28"/>
          <p:cNvSpPr/>
          <p:nvPr/>
        </p:nvSpPr>
        <p:spPr>
          <a:xfrm>
            <a:off x="3752698" y="768096"/>
            <a:ext cx="1638605" cy="658368"/>
          </a:xfrm>
          <a:prstGeom prst="rect">
            <a:avLst/>
          </a:prstGeom>
          <a:solidFill>
            <a:srgbClr val="F4F7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25850" y="822960"/>
            <a:ext cx="14923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3591"/>
                </a:solidFill>
              </a:rPr>
              <a:t>Phase 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825850" y="1042416"/>
            <a:ext cx="14923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8FA0"/>
                </a:solidFill>
              </a:rPr>
              <a:t>Week 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825850" y="1499616"/>
            <a:ext cx="14923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Narrative Generator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25850" y="1938528"/>
            <a:ext cx="1492301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3A"/>
                </a:solidFill>
              </a:rPr>
              <a:t>·  LLM prompt → commentary text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25850" y="2638044"/>
            <a:ext cx="1492301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3A"/>
                </a:solidFill>
              </a:rPr>
              <a:t>·  Feeds Deck Creation Service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825850" y="3337560"/>
            <a:ext cx="1492301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3A"/>
                </a:solidFill>
              </a:rPr>
              <a:t>·  Writes BIC_SCORECARD.AI_NOTES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825850" y="4037076"/>
            <a:ext cx="1492301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3A"/>
                </a:solidFill>
              </a:rPr>
              <a:t>·  Monthly Word / PDF exec report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64454" y="768096"/>
            <a:ext cx="1638605" cy="3968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64454" y="768096"/>
            <a:ext cx="1638605" cy="64008"/>
          </a:xfrm>
          <a:prstGeom prst="rect">
            <a:avLst/>
          </a:prstGeom>
          <a:solidFill>
            <a:srgbClr val="C97A0A"/>
          </a:solidFill>
          <a:ln/>
        </p:spPr>
      </p:sp>
      <p:sp>
        <p:nvSpPr>
          <p:cNvPr id="40" name="Shape 38"/>
          <p:cNvSpPr/>
          <p:nvPr/>
        </p:nvSpPr>
        <p:spPr>
          <a:xfrm>
            <a:off x="5464454" y="768096"/>
            <a:ext cx="1638605" cy="658368"/>
          </a:xfrm>
          <a:prstGeom prst="rect">
            <a:avLst/>
          </a:prstGeom>
          <a:solidFill>
            <a:srgbClr val="F4F7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7606" y="822960"/>
            <a:ext cx="14923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7A0A"/>
                </a:solidFill>
              </a:rPr>
              <a:t>Phase 4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537606" y="1042416"/>
            <a:ext cx="14923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8FA0"/>
                </a:solidFill>
              </a:rPr>
              <a:t>Week 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537606" y="1499616"/>
            <a:ext cx="14923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AI Pre-Validator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537606" y="1938528"/>
            <a:ext cx="1492301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3A"/>
                </a:solidFill>
              </a:rPr>
              <a:t>·  Pre-checks C&amp;A before Maker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537606" y="2638044"/>
            <a:ext cx="1492301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3A"/>
                </a:solidFill>
              </a:rPr>
              <a:t>·  Reduces BD1→BD4 effort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537606" y="3337560"/>
            <a:ext cx="1492301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3A"/>
                </a:solidFill>
              </a:rPr>
              <a:t>·  Flags anomalous DCIDs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176211" y="768096"/>
            <a:ext cx="1638605" cy="3968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76211" y="768096"/>
            <a:ext cx="1638605" cy="64008"/>
          </a:xfrm>
          <a:prstGeom prst="rect">
            <a:avLst/>
          </a:prstGeom>
          <a:solidFill>
            <a:srgbClr val="1A7A3A"/>
          </a:solidFill>
          <a:ln/>
        </p:spPr>
      </p:sp>
      <p:sp>
        <p:nvSpPr>
          <p:cNvPr id="49" name="Shape 47"/>
          <p:cNvSpPr/>
          <p:nvPr/>
        </p:nvSpPr>
        <p:spPr>
          <a:xfrm>
            <a:off x="7176211" y="768096"/>
            <a:ext cx="1638605" cy="658368"/>
          </a:xfrm>
          <a:prstGeom prst="rect">
            <a:avLst/>
          </a:prstGeom>
          <a:solidFill>
            <a:srgbClr val="F4F7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49363" y="822960"/>
            <a:ext cx="14923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A3A"/>
                </a:solidFill>
              </a:rPr>
              <a:t>Phase 5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249363" y="1042416"/>
            <a:ext cx="14923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8FA0"/>
                </a:solidFill>
              </a:rPr>
              <a:t>Weeks 6–7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249363" y="1499616"/>
            <a:ext cx="14923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Variance Analysis AI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249363" y="1938528"/>
            <a:ext cx="1492301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3A"/>
                </a:solidFill>
              </a:rPr>
              <a:t>·  Cross-refs LOB, cluster, entity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249363" y="2638044"/>
            <a:ext cx="1492301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3A"/>
                </a:solidFill>
              </a:rPr>
              <a:t>·  Auto-writes variance comments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249363" y="3337560"/>
            <a:ext cx="1492301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B3A"/>
                </a:solidFill>
              </a:rPr>
              <a:t>·  Enhances Trend Analysis output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2179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" y="54864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Target Architecture — Hybrid AI Model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0E9AA7"/>
                </a:solidFill>
              </a:rPr>
              <a:t>[ ORG LOGO ]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329184" y="804672"/>
            <a:ext cx="1338072" cy="384048"/>
          </a:xfrm>
          <a:prstGeom prst="rect">
            <a:avLst/>
          </a:prstGeom>
          <a:solidFill>
            <a:srgbClr val="FEF5E7"/>
          </a:solidFill>
          <a:ln w="10160">
            <a:solidFill>
              <a:srgbClr val="C97A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804672"/>
            <a:ext cx="1338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Eagle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58696" y="804672"/>
            <a:ext cx="1338072" cy="384048"/>
          </a:xfrm>
          <a:prstGeom prst="rect">
            <a:avLst/>
          </a:prstGeom>
          <a:solidFill>
            <a:srgbClr val="FEF5E7"/>
          </a:solidFill>
          <a:ln w="10160">
            <a:solidFill>
              <a:srgbClr val="C97A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58696" y="804672"/>
            <a:ext cx="1338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Aqua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88208" y="804672"/>
            <a:ext cx="1338072" cy="384048"/>
          </a:xfrm>
          <a:prstGeom prst="rect">
            <a:avLst/>
          </a:prstGeom>
          <a:solidFill>
            <a:srgbClr val="FEF5E7"/>
          </a:solidFill>
          <a:ln w="10160">
            <a:solidFill>
              <a:srgbClr val="C97A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8208" y="804672"/>
            <a:ext cx="1338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DCRM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804672"/>
            <a:ext cx="1338072" cy="384048"/>
          </a:xfrm>
          <a:prstGeom prst="rect">
            <a:avLst/>
          </a:prstGeom>
          <a:solidFill>
            <a:srgbClr val="FEF5E7"/>
          </a:solidFill>
          <a:ln w="10160">
            <a:solidFill>
              <a:srgbClr val="C97A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804672"/>
            <a:ext cx="1338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Genesis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47232" y="804672"/>
            <a:ext cx="1338072" cy="384048"/>
          </a:xfrm>
          <a:prstGeom prst="rect">
            <a:avLst/>
          </a:prstGeom>
          <a:solidFill>
            <a:srgbClr val="FEF5E7"/>
          </a:solidFill>
          <a:ln w="10160">
            <a:solidFill>
              <a:srgbClr val="C97A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47232" y="804672"/>
            <a:ext cx="1338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Optima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76744" y="804672"/>
            <a:ext cx="1338072" cy="384048"/>
          </a:xfrm>
          <a:prstGeom prst="rect">
            <a:avLst/>
          </a:prstGeom>
          <a:solidFill>
            <a:srgbClr val="FEF5E7"/>
          </a:solidFill>
          <a:ln w="10160">
            <a:solidFill>
              <a:srgbClr val="C97A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6744" y="804672"/>
            <a:ext cx="1338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Others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43400" y="121615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FA0"/>
                </a:solidFill>
              </a:rPr>
              <a:t>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9184" y="1463040"/>
            <a:ext cx="2767584" cy="365760"/>
          </a:xfrm>
          <a:prstGeom prst="rect">
            <a:avLst/>
          </a:prstGeom>
          <a:solidFill>
            <a:srgbClr val="EEF4FF"/>
          </a:solidFill>
          <a:ln w="10160">
            <a:solidFill>
              <a:srgbClr val="2E6D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" y="1463040"/>
            <a:ext cx="2767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6B"/>
                </a:solidFill>
              </a:rPr>
              <a:t>DMU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88208" y="1463040"/>
            <a:ext cx="2767584" cy="365760"/>
          </a:xfrm>
          <a:prstGeom prst="rect">
            <a:avLst/>
          </a:prstGeom>
          <a:solidFill>
            <a:srgbClr val="EEF4FF"/>
          </a:solidFill>
          <a:ln w="10160">
            <a:solidFill>
              <a:srgbClr val="2E6D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88208" y="1463040"/>
            <a:ext cx="2767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6B"/>
                </a:solidFill>
              </a:rPr>
              <a:t>DQ Engine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47232" y="1463040"/>
            <a:ext cx="2767584" cy="365760"/>
          </a:xfrm>
          <a:prstGeom prst="rect">
            <a:avLst/>
          </a:prstGeom>
          <a:solidFill>
            <a:srgbClr val="EEF4FF"/>
          </a:solidFill>
          <a:ln w="10160">
            <a:solidFill>
              <a:srgbClr val="2E6D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47232" y="1463040"/>
            <a:ext cx="2767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6B"/>
                </a:solidFill>
              </a:rPr>
              <a:t>EAP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43400" y="1865376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FA0"/>
                </a:solidFill>
              </a:rPr>
              <a:t>▼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9184" y="2103120"/>
            <a:ext cx="3291840" cy="1152144"/>
          </a:xfrm>
          <a:prstGeom prst="rect">
            <a:avLst/>
          </a:prstGeom>
          <a:solidFill>
            <a:srgbClr val="EEF4FF"/>
          </a:solidFill>
          <a:ln w="15240">
            <a:solidFill>
              <a:srgbClr val="2E6DB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" y="2103120"/>
            <a:ext cx="3291840" cy="6400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" y="21305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6DB4"/>
                </a:solidFill>
              </a:rPr>
              <a:t>📂  READ PATH  (CSV / Excel)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9184" y="2414016"/>
            <a:ext cx="2767584" cy="713232"/>
          </a:xfrm>
          <a:prstGeom prst="rect">
            <a:avLst/>
          </a:prstGeom>
          <a:solidFill>
            <a:srgbClr val="EEF4FF"/>
          </a:solidFill>
          <a:ln w="10160">
            <a:solidFill>
              <a:srgbClr val="2E6D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" y="2414016"/>
            <a:ext cx="27675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</a:rPr>
              <a:t>NL2SQL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</a:rPr>
              <a:t>Agent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88208" y="2414016"/>
            <a:ext cx="2767584" cy="713232"/>
          </a:xfrm>
          <a:prstGeom prst="rect">
            <a:avLst/>
          </a:prstGeom>
          <a:solidFill>
            <a:srgbClr val="EEF4FF"/>
          </a:solidFill>
          <a:ln w="10160">
            <a:solidFill>
              <a:srgbClr val="2E6DB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88208" y="2414016"/>
            <a:ext cx="27675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</a:rPr>
              <a:t>Breach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</a:rPr>
              <a:t>Detector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47232" y="2414016"/>
            <a:ext cx="2767584" cy="713232"/>
          </a:xfrm>
          <a:prstGeom prst="rect">
            <a:avLst/>
          </a:prstGeom>
          <a:solidFill>
            <a:srgbClr val="EEF4FF"/>
          </a:solidFill>
          <a:ln w="10160">
            <a:solidFill>
              <a:srgbClr val="2E6DB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47232" y="2414016"/>
            <a:ext cx="27675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</a:rPr>
              <a:t>Narrative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</a:rPr>
              <a:t>Generator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39312" y="26700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8FA0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3986784" y="2103120"/>
            <a:ext cx="4828032" cy="1152144"/>
          </a:xfrm>
          <a:prstGeom prst="rect">
            <a:avLst/>
          </a:prstGeom>
          <a:solidFill>
            <a:srgbClr val="FEF5E7"/>
          </a:solidFill>
          <a:ln w="15240">
            <a:solidFill>
              <a:srgbClr val="C96A0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86784" y="2103120"/>
            <a:ext cx="4828032" cy="64008"/>
          </a:xfrm>
          <a:prstGeom prst="rect">
            <a:avLst/>
          </a:prstGeom>
          <a:solidFill>
            <a:srgbClr val="C96A0A"/>
          </a:solidFill>
          <a:ln/>
        </p:spPr>
      </p:sp>
      <p:sp>
        <p:nvSpPr>
          <p:cNvPr id="39" name="Text 37"/>
          <p:cNvSpPr/>
          <p:nvPr/>
        </p:nvSpPr>
        <p:spPr>
          <a:xfrm>
            <a:off x="4114800" y="21305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6A0A"/>
                </a:solidFill>
              </a:rPr>
              <a:t>🗄  WRITE-BACK PATH  (Oracle DB)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9184" y="2414016"/>
            <a:ext cx="2052828" cy="713232"/>
          </a:xfrm>
          <a:prstGeom prst="rect">
            <a:avLst/>
          </a:prstGeom>
          <a:solidFill>
            <a:srgbClr val="FEF5E7"/>
          </a:solidFill>
          <a:ln w="10160">
            <a:solidFill>
              <a:srgbClr val="C96A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" y="2414016"/>
            <a:ext cx="20528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</a:rPr>
              <a:t>AI Pre-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</a:rPr>
              <a:t>Validator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473452" y="2414016"/>
            <a:ext cx="2052828" cy="713232"/>
          </a:xfrm>
          <a:prstGeom prst="rect">
            <a:avLst/>
          </a:prstGeom>
          <a:solidFill>
            <a:srgbClr val="FEF5E7"/>
          </a:solidFill>
          <a:ln w="10160">
            <a:solidFill>
              <a:srgbClr val="C96A0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73452" y="2414016"/>
            <a:ext cx="20528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</a:rPr>
              <a:t>Variance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</a:rPr>
              <a:t>Analysis AI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17720" y="2414016"/>
            <a:ext cx="2052828" cy="713232"/>
          </a:xfrm>
          <a:prstGeom prst="rect">
            <a:avLst/>
          </a:prstGeom>
          <a:solidFill>
            <a:srgbClr val="FEF5E7"/>
          </a:solidFill>
          <a:ln w="10160">
            <a:solidFill>
              <a:srgbClr val="C96A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17720" y="2414016"/>
            <a:ext cx="20528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</a:rPr>
              <a:t>FastAPI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</a:rPr>
              <a:t>Write Service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761988" y="2414016"/>
            <a:ext cx="2052828" cy="713232"/>
          </a:xfrm>
          <a:prstGeom prst="rect">
            <a:avLst/>
          </a:prstGeom>
          <a:solidFill>
            <a:srgbClr val="FEF5E7"/>
          </a:solidFill>
          <a:ln w="10160">
            <a:solidFill>
              <a:srgbClr val="C96A0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61988" y="2414016"/>
            <a:ext cx="20528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</a:rPr>
              <a:t>Oracle 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</a:rPr>
              <a:t>(INSERT/UPDATE)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343400" y="327355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FA0"/>
                </a:solidFill>
              </a:rPr>
              <a:t>▼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29184" y="3529584"/>
            <a:ext cx="1623974" cy="621792"/>
          </a:xfrm>
          <a:prstGeom prst="rect">
            <a:avLst/>
          </a:prstGeom>
          <a:solidFill>
            <a:srgbClr val="F4EDF8"/>
          </a:solidFill>
          <a:ln w="10160">
            <a:solidFill>
              <a:srgbClr val="6D359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9184" y="3529584"/>
            <a:ext cx="162397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</a:rPr>
              <a:t>Tableau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</a:rPr>
              <a:t>Dashboards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044598" y="3529584"/>
            <a:ext cx="1623974" cy="621792"/>
          </a:xfrm>
          <a:prstGeom prst="rect">
            <a:avLst/>
          </a:prstGeom>
          <a:solidFill>
            <a:srgbClr val="F4EDF8"/>
          </a:solidFill>
          <a:ln w="10160">
            <a:solidFill>
              <a:srgbClr val="6D359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44598" y="3529584"/>
            <a:ext cx="162397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</a:rPr>
              <a:t>B&amp;I Data Metrics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</a:rPr>
              <a:t>&amp; Controls App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760013" y="3529584"/>
            <a:ext cx="1623974" cy="621792"/>
          </a:xfrm>
          <a:prstGeom prst="rect">
            <a:avLst/>
          </a:prstGeom>
          <a:solidFill>
            <a:srgbClr val="F4EDF8"/>
          </a:solidFill>
          <a:ln w="10160">
            <a:solidFill>
              <a:srgbClr val="6D359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60013" y="3529584"/>
            <a:ext cx="162397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</a:rPr>
              <a:t>B&amp;I Vault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</a:rPr>
              <a:t>(Evidence)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75427" y="3529584"/>
            <a:ext cx="1623974" cy="621792"/>
          </a:xfrm>
          <a:prstGeom prst="rect">
            <a:avLst/>
          </a:prstGeom>
          <a:solidFill>
            <a:srgbClr val="F4EDF8"/>
          </a:solidFill>
          <a:ln w="10160">
            <a:solidFill>
              <a:srgbClr val="6D359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75427" y="3529584"/>
            <a:ext cx="162397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</a:rPr>
              <a:t>Reg Deck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</a:rPr>
              <a:t>PPT / PDF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190842" y="3529584"/>
            <a:ext cx="1623974" cy="621792"/>
          </a:xfrm>
          <a:prstGeom prst="rect">
            <a:avLst/>
          </a:prstGeom>
          <a:solidFill>
            <a:srgbClr val="F4EDF8"/>
          </a:solidFill>
          <a:ln w="10160">
            <a:solidFill>
              <a:srgbClr val="6D359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90842" y="3529584"/>
            <a:ext cx="162397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</a:rPr>
              <a:t>Exec Email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3A6B"/>
                </a:solidFill>
              </a:rPr>
              <a:t>Report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60" name="Shape 58"/>
          <p:cNvSpPr/>
          <p:nvPr/>
        </p:nvSpPr>
        <p:spPr>
          <a:xfrm>
            <a:off x="329184" y="4480560"/>
            <a:ext cx="8485632" cy="16459"/>
          </a:xfrm>
          <a:prstGeom prst="rect">
            <a:avLst/>
          </a:prstGeom>
          <a:solidFill>
            <a:srgbClr val="D0DCE8"/>
          </a:solidFill>
          <a:ln/>
        </p:spPr>
      </p:sp>
      <p:sp>
        <p:nvSpPr>
          <p:cNvPr id="61" name="Text 59"/>
          <p:cNvSpPr/>
          <p:nvPr/>
        </p:nvSpPr>
        <p:spPr>
          <a:xfrm>
            <a:off x="329184" y="4535424"/>
            <a:ext cx="8485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0"/>
                </a:solidFill>
              </a:rPr>
              <a:t>End Users:   Risk / Compliance Analysts  ·  Senior Management / Executives  ·  Control Team  ·  B&amp;I Data Team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2179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" y="54864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Hybrid Architecture  ·  CSV Read  +  Oracle DB Write-Back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0E9AA7"/>
                </a:solidFill>
              </a:rPr>
              <a:t>[ ORG LOGO ]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329184" y="768096"/>
            <a:ext cx="2523744" cy="2651760"/>
          </a:xfrm>
          <a:prstGeom prst="rect">
            <a:avLst/>
          </a:prstGeom>
          <a:solidFill>
            <a:srgbClr val="EEF4FF"/>
          </a:solidFill>
          <a:ln w="15240">
            <a:solidFill>
              <a:srgbClr val="2E6D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" y="768096"/>
            <a:ext cx="2523744" cy="36576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76809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📂  READ PATH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152144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E6DB4"/>
                </a:solidFill>
              </a:rPr>
              <a:t>CSV / Excel  (no DB credentials)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" y="1426464"/>
            <a:ext cx="8485632" cy="16459"/>
          </a:xfrm>
          <a:prstGeom prst="rect">
            <a:avLst/>
          </a:prstGeom>
          <a:solidFill>
            <a:srgbClr val="D0DCE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09344"/>
            <a:ext cx="164592" cy="164592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" y="1554480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Tableau monthly export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4944" y="1773936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0"/>
                </a:solidFill>
              </a:rPr>
              <a:t>Download as CSV or Excel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194560"/>
            <a:ext cx="164592" cy="164592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2139696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Python / Pandas reads file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4944" y="2359152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0"/>
                </a:solidFill>
              </a:rPr>
              <a:t>Zero DB connection needed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779776"/>
            <a:ext cx="164592" cy="164592"/>
          </a:xfrm>
          <a:prstGeom prst="ellipse">
            <a:avLst/>
          </a:prstGeom>
          <a:solidFill>
            <a:srgbClr val="2E6DB4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" y="2724912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AI Engine processes data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4944" y="2944368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0"/>
                </a:solidFill>
              </a:rPr>
              <a:t>NL2SQL, Breach, Narrative, Variance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89504" y="1911096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8FA0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108960" y="768096"/>
            <a:ext cx="2523744" cy="2651760"/>
          </a:xfrm>
          <a:prstGeom prst="rect">
            <a:avLst/>
          </a:prstGeom>
          <a:solidFill>
            <a:srgbClr val="F0EEF9"/>
          </a:solidFill>
          <a:ln w="15240">
            <a:solidFill>
              <a:srgbClr val="1B3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0" y="768096"/>
            <a:ext cx="2523744" cy="3657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4" name="Text 22"/>
          <p:cNvSpPr/>
          <p:nvPr/>
        </p:nvSpPr>
        <p:spPr>
          <a:xfrm>
            <a:off x="3236976" y="76809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  AI ENGINE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36976" y="1152144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3A6B"/>
                </a:solidFill>
              </a:rPr>
              <a:t>Python · FastAPI · LangChain · Gemini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9184" y="1426464"/>
            <a:ext cx="8485632" cy="16459"/>
          </a:xfrm>
          <a:prstGeom prst="rect">
            <a:avLst/>
          </a:prstGeom>
          <a:solidFill>
            <a:srgbClr val="D0DCE8"/>
          </a:solidFill>
          <a:ln/>
        </p:spPr>
      </p:sp>
      <p:sp>
        <p:nvSpPr>
          <p:cNvPr id="27" name="Shape 25"/>
          <p:cNvSpPr/>
          <p:nvPr/>
        </p:nvSpPr>
        <p:spPr>
          <a:xfrm>
            <a:off x="3236976" y="1572768"/>
            <a:ext cx="73152" cy="21945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155448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AA7"/>
                </a:solidFill>
              </a:rPr>
              <a:t>NL2SQL Agent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36976" y="1938528"/>
            <a:ext cx="73152" cy="21945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0" y="192024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Breach Detector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36976" y="2304288"/>
            <a:ext cx="73152" cy="219456"/>
          </a:xfrm>
          <a:prstGeom prst="rect">
            <a:avLst/>
          </a:prstGeom>
          <a:solidFill>
            <a:srgbClr val="6D3591"/>
          </a:solidFill>
          <a:ln/>
        </p:spPr>
      </p:sp>
      <p:sp>
        <p:nvSpPr>
          <p:cNvPr id="32" name="Text 30"/>
          <p:cNvSpPr/>
          <p:nvPr/>
        </p:nvSpPr>
        <p:spPr>
          <a:xfrm>
            <a:off x="3383280" y="228600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3591"/>
                </a:solidFill>
              </a:rPr>
              <a:t>Narrative Generator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36976" y="2670048"/>
            <a:ext cx="73152" cy="219456"/>
          </a:xfrm>
          <a:prstGeom prst="rect">
            <a:avLst/>
          </a:prstGeom>
          <a:solidFill>
            <a:srgbClr val="C97A0A"/>
          </a:solidFill>
          <a:ln/>
        </p:spPr>
      </p:sp>
      <p:sp>
        <p:nvSpPr>
          <p:cNvPr id="34" name="Text 32"/>
          <p:cNvSpPr/>
          <p:nvPr/>
        </p:nvSpPr>
        <p:spPr>
          <a:xfrm>
            <a:off x="3383280" y="265176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7A0A"/>
                </a:solidFill>
              </a:rPr>
              <a:t>AI Pre-Validator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36976" y="3035808"/>
            <a:ext cx="73152" cy="219456"/>
          </a:xfrm>
          <a:prstGeom prst="rect">
            <a:avLst/>
          </a:prstGeom>
          <a:solidFill>
            <a:srgbClr val="1A7A3A"/>
          </a:solidFill>
          <a:ln/>
        </p:spPr>
      </p:sp>
      <p:sp>
        <p:nvSpPr>
          <p:cNvPr id="36" name="Text 34"/>
          <p:cNvSpPr/>
          <p:nvPr/>
        </p:nvSpPr>
        <p:spPr>
          <a:xfrm>
            <a:off x="3383280" y="301752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3A"/>
                </a:solidFill>
              </a:rPr>
              <a:t>Variance Analysis AI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69280" y="1911096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8FA0"/>
                </a:solidFill>
              </a:rPr>
              <a:t>→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5888736" y="768096"/>
            <a:ext cx="2523744" cy="2651760"/>
          </a:xfrm>
          <a:prstGeom prst="rect">
            <a:avLst/>
          </a:prstGeom>
          <a:solidFill>
            <a:srgbClr val="FEF5E7"/>
          </a:solidFill>
          <a:ln w="15240">
            <a:solidFill>
              <a:srgbClr val="C96A0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88736" y="768096"/>
            <a:ext cx="2523744" cy="365760"/>
          </a:xfrm>
          <a:prstGeom prst="rect">
            <a:avLst/>
          </a:prstGeom>
          <a:solidFill>
            <a:srgbClr val="C96A0A"/>
          </a:solidFill>
          <a:ln/>
        </p:spPr>
      </p:sp>
      <p:sp>
        <p:nvSpPr>
          <p:cNvPr id="40" name="Text 38"/>
          <p:cNvSpPr/>
          <p:nvPr/>
        </p:nvSpPr>
        <p:spPr>
          <a:xfrm>
            <a:off x="6016752" y="76809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🗄  WRITE-BACK PATH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16752" y="1152144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6A0A"/>
                </a:solidFill>
              </a:rPr>
              <a:t>Oracle DB  (controlled write only)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9184" y="1426464"/>
            <a:ext cx="8485632" cy="16459"/>
          </a:xfrm>
          <a:prstGeom prst="rect">
            <a:avLst/>
          </a:prstGeom>
          <a:solidFill>
            <a:srgbClr val="D0DCE8"/>
          </a:solidFill>
          <a:ln/>
        </p:spPr>
      </p:sp>
      <p:sp>
        <p:nvSpPr>
          <p:cNvPr id="43" name="Text 41"/>
          <p:cNvSpPr/>
          <p:nvPr/>
        </p:nvSpPr>
        <p:spPr>
          <a:xfrm>
            <a:off x="6016752" y="153619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6A0A"/>
                </a:solidFill>
              </a:rPr>
              <a:t>BIC_SCORECARD.AI_NOTES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016752" y="175564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0"/>
                </a:solidFill>
              </a:rPr>
              <a:t>Narrative commentary (new col)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016752" y="201168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6A0A"/>
                </a:solidFill>
              </a:rPr>
              <a:t>AI_BREACH_ALERT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016752" y="223113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0"/>
                </a:solidFill>
              </a:rPr>
              <a:t>Breach flags (new table)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016752" y="2487168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6A0A"/>
                </a:solidFill>
              </a:rPr>
              <a:t>BIC_KRI_COMMENT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016752" y="2706624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0"/>
                </a:solidFill>
              </a:rPr>
              <a:t>Variance observations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016752" y="2962656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6A0A"/>
                </a:solidFill>
              </a:rPr>
              <a:t>STATUS_TRACKER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016752" y="318211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0"/>
                </a:solidFill>
              </a:rPr>
              <a:t>Pre-validator flags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29184" y="3566160"/>
            <a:ext cx="8485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Human Review Flow  (existing Maker / Checker — unchanged)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29184" y="3840480"/>
            <a:ext cx="8485632" cy="16459"/>
          </a:xfrm>
          <a:prstGeom prst="rect">
            <a:avLst/>
          </a:prstGeom>
          <a:solidFill>
            <a:srgbClr val="D0DCE8"/>
          </a:solidFill>
          <a:ln/>
        </p:spPr>
      </p:sp>
      <p:sp>
        <p:nvSpPr>
          <p:cNvPr id="53" name="Shape 51"/>
          <p:cNvSpPr/>
          <p:nvPr/>
        </p:nvSpPr>
        <p:spPr>
          <a:xfrm>
            <a:off x="320040" y="3913632"/>
            <a:ext cx="1554480" cy="658368"/>
          </a:xfrm>
          <a:prstGeom prst="rect">
            <a:avLst/>
          </a:prstGeom>
          <a:solidFill>
            <a:srgbClr val="F4F7FB"/>
          </a:solidFill>
          <a:ln w="11430">
            <a:solidFill>
              <a:srgbClr val="C96A0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" y="3913632"/>
            <a:ext cx="1554480" cy="45720"/>
          </a:xfrm>
          <a:prstGeom prst="rect">
            <a:avLst/>
          </a:prstGeom>
          <a:solidFill>
            <a:srgbClr val="C96A0A"/>
          </a:solidFill>
          <a:ln/>
        </p:spPr>
      </p:sp>
      <p:sp>
        <p:nvSpPr>
          <p:cNvPr id="55" name="Text 53"/>
          <p:cNvSpPr/>
          <p:nvPr/>
        </p:nvSpPr>
        <p:spPr>
          <a:xfrm>
            <a:off x="320040" y="3986784"/>
            <a:ext cx="1554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3A6B"/>
                </a:solidFill>
              </a:rPr>
              <a:t>AI writes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3A6B"/>
                </a:solidFill>
              </a:rPr>
              <a:t>draft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883664" y="4105656"/>
            <a:ext cx="173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8FA0"/>
                </a:solidFill>
              </a:rPr>
              <a:t>›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2057400" y="3913632"/>
            <a:ext cx="1554480" cy="658368"/>
          </a:xfrm>
          <a:prstGeom prst="rect">
            <a:avLst/>
          </a:prstGeom>
          <a:solidFill>
            <a:srgbClr val="F4F7FB"/>
          </a:solidFill>
          <a:ln w="11430">
            <a:solidFill>
              <a:srgbClr val="C97A0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057400" y="3913632"/>
            <a:ext cx="1554480" cy="45720"/>
          </a:xfrm>
          <a:prstGeom prst="rect">
            <a:avLst/>
          </a:prstGeom>
          <a:solidFill>
            <a:srgbClr val="C97A0A"/>
          </a:solidFill>
          <a:ln/>
        </p:spPr>
      </p:sp>
      <p:sp>
        <p:nvSpPr>
          <p:cNvPr id="59" name="Text 57"/>
          <p:cNvSpPr/>
          <p:nvPr/>
        </p:nvSpPr>
        <p:spPr>
          <a:xfrm>
            <a:off x="2057400" y="3986784"/>
            <a:ext cx="1554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3A6B"/>
                </a:solidFill>
              </a:rPr>
              <a:t>AI_STATUS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3A6B"/>
                </a:solidFill>
              </a:rPr>
              <a:t>= PENDING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621024" y="4105656"/>
            <a:ext cx="173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8FA0"/>
                </a:solidFill>
              </a:rPr>
              <a:t>›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3794760" y="3913632"/>
            <a:ext cx="1554480" cy="658368"/>
          </a:xfrm>
          <a:prstGeom prst="rect">
            <a:avLst/>
          </a:prstGeom>
          <a:solidFill>
            <a:srgbClr val="F4F7FB"/>
          </a:solidFill>
          <a:ln w="11430">
            <a:solidFill>
              <a:srgbClr val="2E6DB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794760" y="3913632"/>
            <a:ext cx="1554480" cy="4572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63" name="Text 61"/>
          <p:cNvSpPr/>
          <p:nvPr/>
        </p:nvSpPr>
        <p:spPr>
          <a:xfrm>
            <a:off x="3794760" y="3986784"/>
            <a:ext cx="1554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3A6B"/>
                </a:solidFill>
              </a:rPr>
              <a:t>Maker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3A6B"/>
                </a:solidFill>
              </a:rPr>
              <a:t>reviews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358384" y="4105656"/>
            <a:ext cx="173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8FA0"/>
                </a:solidFill>
              </a:rPr>
              <a:t>›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5532120" y="3913632"/>
            <a:ext cx="1554480" cy="658368"/>
          </a:xfrm>
          <a:prstGeom prst="rect">
            <a:avLst/>
          </a:prstGeom>
          <a:solidFill>
            <a:srgbClr val="F4F7FB"/>
          </a:solidFill>
          <a:ln w="11430">
            <a:solidFill>
              <a:srgbClr val="1B3A6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532120" y="3913632"/>
            <a:ext cx="1554480" cy="457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7" name="Text 65"/>
          <p:cNvSpPr/>
          <p:nvPr/>
        </p:nvSpPr>
        <p:spPr>
          <a:xfrm>
            <a:off x="5532120" y="3986784"/>
            <a:ext cx="1554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3A6B"/>
                </a:solidFill>
              </a:rPr>
              <a:t>Approver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3A6B"/>
                </a:solidFill>
              </a:rPr>
              <a:t>approves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095744" y="4105656"/>
            <a:ext cx="173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8FA0"/>
                </a:solidFill>
              </a:rPr>
              <a:t>›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7269480" y="3913632"/>
            <a:ext cx="1554480" cy="658368"/>
          </a:xfrm>
          <a:prstGeom prst="rect">
            <a:avLst/>
          </a:prstGeom>
          <a:solidFill>
            <a:srgbClr val="F4F7FB"/>
          </a:solidFill>
          <a:ln w="11430">
            <a:solidFill>
              <a:srgbClr val="1A7A3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69480" y="3913632"/>
            <a:ext cx="1554480" cy="45720"/>
          </a:xfrm>
          <a:prstGeom prst="rect">
            <a:avLst/>
          </a:prstGeom>
          <a:solidFill>
            <a:srgbClr val="1A7A3A"/>
          </a:solidFill>
          <a:ln/>
        </p:spPr>
      </p:sp>
      <p:sp>
        <p:nvSpPr>
          <p:cNvPr id="71" name="Text 69"/>
          <p:cNvSpPr/>
          <p:nvPr/>
        </p:nvSpPr>
        <p:spPr>
          <a:xfrm>
            <a:off x="7269480" y="3986784"/>
            <a:ext cx="1554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3A6B"/>
                </a:solidFill>
              </a:rPr>
              <a:t>Dashboard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3A6B"/>
                </a:solidFill>
              </a:rPr>
              <a:t>updated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2179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" y="54864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Chosen Approach  ·  CSV / Excel Read  +  Oracle DB Write-Back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0E9AA7"/>
                </a:solidFill>
              </a:rPr>
              <a:t>[ ORG LOGO ]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329184" y="768096"/>
            <a:ext cx="8485632" cy="493776"/>
          </a:xfrm>
          <a:prstGeom prst="rect">
            <a:avLst/>
          </a:prstGeom>
          <a:solidFill>
            <a:srgbClr val="EEF4FF"/>
          </a:solidFill>
          <a:ln w="10160">
            <a:solidFill>
              <a:srgbClr val="2E6D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" y="768096"/>
            <a:ext cx="64008" cy="493776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768096"/>
            <a:ext cx="8284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Read from CSV / Excel (downloaded from Tableau) for zero DB credential risk on the input side. Write AI outputs back to Oracle DB via a single controlled FastAPI endpoint — best of both worlds.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" y="1335024"/>
          <a:ext cx="8485632" cy="914400"/>
        </p:xfrm>
        <a:graphic>
          <a:graphicData uri="http://schemas.openxmlformats.org/drawingml/2006/table">
            <a:tbl>
              <a:tblPr/>
              <a:tblGrid>
                <a:gridCol w="1353312"/>
                <a:gridCol w="2194560"/>
                <a:gridCol w="2761488"/>
                <a:gridCol w="2194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AI Feature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What You Download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How AI Uses It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Writes Back To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6A0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E9AA7"/>
                          </a:solidFill>
                        </a:rPr>
                        <a:t>NL2SQL / Q&amp;A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KRI monthly export from Tableau (CSV)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Pandas + LLM reads CSV, answers questions in plain English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7A8FA0"/>
                          </a:solidFill>
                        </a:rPr>
                        <a:t>—  (read only)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Breach Detector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BIC_CA_DATA export — KRI values, RAG, thresholds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Python reads rows, applies RAG + trend rules automatically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6A0A"/>
                          </a:solidFill>
                        </a:rPr>
                        <a:t>AI_BREACH_ALERT (new table)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D3591"/>
                          </a:solidFill>
                        </a:rPr>
                        <a:t>Narrative Generator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Scorecard Excel (same file used monthly)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LLM receives structured Excel as context, writes commentary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6A0A"/>
                          </a:solidFill>
                        </a:rPr>
                        <a:t>BIC_SCORECARD.AI_NOTES (new col)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7A0A"/>
                          </a:solidFill>
                        </a:rPr>
                        <a:t>Variance Analysis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Current + previous month exports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Compare columns, AI explains delta cross-referencing LOB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6A0A"/>
                          </a:solidFill>
                        </a:rPr>
                        <a:t>BIC_KRI_COMMENT (existing table)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97A0A"/>
                          </a:solidFill>
                        </a:rPr>
                        <a:t>AI Pre-Validator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C&amp;A export — COMPLETENESS and ACCURACY flags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2B3A"/>
                          </a:solidFill>
                        </a:rPr>
                        <a:t>Flags false positives, drafts short comment before Maker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6A0A"/>
                          </a:solidFill>
                        </a:rPr>
                        <a:t>BIC_KRI_CONTROL_STATUS_TRACKER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29184" y="4169664"/>
            <a:ext cx="8485632" cy="512064"/>
          </a:xfrm>
          <a:prstGeom prst="rect">
            <a:avLst/>
          </a:prstGeom>
          <a:solidFill>
            <a:srgbClr val="FEF5E7"/>
          </a:solidFill>
          <a:ln w="10160">
            <a:solidFill>
              <a:srgbClr val="C96A0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9184" y="4169664"/>
            <a:ext cx="64008" cy="512064"/>
          </a:xfrm>
          <a:prstGeom prst="rect">
            <a:avLst/>
          </a:prstGeom>
          <a:solidFill>
            <a:srgbClr val="C96A0A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" y="4169664"/>
            <a:ext cx="8284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2B3A"/>
                </a:solidFill>
              </a:rPr>
              <a:t>Trade-off:  CSV/Excel is a snapshot, not real-time. Mitigate by scheduling an auto-export from Tableau → S3 → AI pipeline daily/weekly. No manual effort after setup. Switch to live DB read later if needed.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2179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" y="54864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DB Schema Additions  ·  Additive Only — No Existing Tables Changed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0E9AA7"/>
                </a:solidFill>
              </a:rPr>
              <a:t>[ ORG LOGO ]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329184" y="768096"/>
            <a:ext cx="4114800" cy="3931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" y="768096"/>
            <a:ext cx="4114800" cy="64008"/>
          </a:xfrm>
          <a:prstGeom prst="rect">
            <a:avLst/>
          </a:prstGeom>
          <a:solidFill>
            <a:srgbClr val="C96A0A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" y="768096"/>
            <a:ext cx="4114800" cy="420624"/>
          </a:xfrm>
          <a:prstGeom prst="rect">
            <a:avLst/>
          </a:prstGeom>
          <a:solidFill>
            <a:srgbClr val="F4F7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768096"/>
            <a:ext cx="3822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6A0A"/>
                </a:solidFill>
              </a:rPr>
              <a:t>ALTER TABLE  BIC_SCORECARD  (4 new columns)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335024"/>
            <a:ext cx="3858768" cy="745236"/>
          </a:xfrm>
          <a:prstGeom prst="rect">
            <a:avLst/>
          </a:prstGeom>
          <a:solidFill>
            <a:srgbClr val="F4F7FB"/>
          </a:solidFill>
          <a:ln w="5080">
            <a:solidFill>
              <a:srgbClr val="D0DC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3898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6A0A"/>
                </a:solidFill>
              </a:rPr>
              <a:t>AI_NOTES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0352" y="1627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FA0"/>
                </a:solidFill>
              </a:rPr>
              <a:t>VARCHAR2(1000)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23744" y="1389888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AI-generated narrative — separate from human NOTES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189988"/>
            <a:ext cx="3858768" cy="745236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2448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6A0A"/>
                </a:solidFill>
              </a:rPr>
              <a:t>AI_STATUS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" y="24825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FA0"/>
                </a:solidFill>
              </a:rPr>
              <a:t>VARCHAR2(20)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23744" y="224485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PENDING  /  GENERATED  /  FAILED  /  APPROVED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044952"/>
            <a:ext cx="3858768" cy="745236"/>
          </a:xfrm>
          <a:prstGeom prst="rect">
            <a:avLst/>
          </a:prstGeom>
          <a:solidFill>
            <a:srgbClr val="F4F7FB"/>
          </a:solidFill>
          <a:ln w="5080">
            <a:solidFill>
              <a:srgbClr val="D0D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0998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6A0A"/>
                </a:solidFill>
              </a:rPr>
              <a:t>AI_GENERATED_DT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0352" y="3337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FA0"/>
                </a:solidFill>
              </a:rPr>
              <a:t>TIMESTAMP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23744" y="3099816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Date and time AI wrote the commentary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899916"/>
            <a:ext cx="3858768" cy="745236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9547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6A0A"/>
                </a:solidFill>
              </a:rPr>
              <a:t>AI_MODEL_VERSION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0352" y="41925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FA0"/>
                </a:solidFill>
              </a:rPr>
              <a:t>VARCHAR2(50)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23744" y="3954780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Which AI model/version produced the output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0016" y="768096"/>
            <a:ext cx="4114800" cy="3931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0016" y="768096"/>
            <a:ext cx="4114800" cy="64008"/>
          </a:xfrm>
          <a:prstGeom prst="rect">
            <a:avLst/>
          </a:prstGeom>
          <a:solidFill>
            <a:srgbClr val="1A7A3A"/>
          </a:solidFill>
          <a:ln/>
        </p:spPr>
      </p:sp>
      <p:sp>
        <p:nvSpPr>
          <p:cNvPr id="29" name="Shape 27"/>
          <p:cNvSpPr/>
          <p:nvPr/>
        </p:nvSpPr>
        <p:spPr>
          <a:xfrm>
            <a:off x="4700016" y="768096"/>
            <a:ext cx="4114800" cy="420624"/>
          </a:xfrm>
          <a:prstGeom prst="rect">
            <a:avLst/>
          </a:prstGeom>
          <a:solidFill>
            <a:srgbClr val="F4F7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768096"/>
            <a:ext cx="3822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3A"/>
                </a:solidFill>
              </a:rPr>
              <a:t>CREATE TABLE  AI_BREACH_ALERT  (new table)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28032" y="1316736"/>
            <a:ext cx="3858768" cy="415399"/>
          </a:xfrm>
          <a:prstGeom prst="rect">
            <a:avLst/>
          </a:prstGeom>
          <a:solidFill>
            <a:srgbClr val="F4F7FB"/>
          </a:solidFill>
          <a:ln w="5080">
            <a:solidFill>
              <a:srgbClr val="D0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01184" y="13533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3A"/>
                </a:solidFill>
              </a:rPr>
              <a:t>ID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01184" y="15544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FA0"/>
                </a:solidFill>
              </a:rPr>
              <a:t>NUMBER (auto)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675120" y="135331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Primary key — auto generated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28032" y="1805287"/>
            <a:ext cx="3858768" cy="415399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1841863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3A"/>
                </a:solidFill>
              </a:rPr>
              <a:t>KRI_ID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01184" y="2043031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FA0"/>
                </a:solidFill>
              </a:rPr>
              <a:t>NUMBER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675120" y="1841863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Links to BIC_KRI_CONFIG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28032" y="2293838"/>
            <a:ext cx="3858768" cy="415399"/>
          </a:xfrm>
          <a:prstGeom prst="rect">
            <a:avLst/>
          </a:prstGeom>
          <a:solidFill>
            <a:srgbClr val="F4F7FB"/>
          </a:solidFill>
          <a:ln w="5080">
            <a:solidFill>
              <a:srgbClr val="D0D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01184" y="233041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3A"/>
                </a:solidFill>
              </a:rPr>
              <a:t>ALERT_TYPE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01184" y="253158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FA0"/>
                </a:solidFill>
              </a:rPr>
              <a:t>VARCHAR2(30)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675120" y="233041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IMMEDIATE  /  TREND  /  SUSTAINED_AMBER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28032" y="2782389"/>
            <a:ext cx="3858768" cy="415399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01184" y="2818965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3A"/>
                </a:solidFill>
              </a:rPr>
              <a:t>REGION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01184" y="3020133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FA0"/>
                </a:solidFill>
              </a:rPr>
              <a:t>VARCHAR2(16)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675120" y="2818965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UK  /  SGP  /  CEP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28032" y="3270939"/>
            <a:ext cx="3858768" cy="415399"/>
          </a:xfrm>
          <a:prstGeom prst="rect">
            <a:avLst/>
          </a:prstGeom>
          <a:solidFill>
            <a:srgbClr val="F4F7FB"/>
          </a:solidFill>
          <a:ln w="5080">
            <a:solidFill>
              <a:srgbClr val="D0DC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01184" y="3307515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3A"/>
                </a:solidFill>
              </a:rPr>
              <a:t>AI_COMMENTARY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01184" y="3508683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FA0"/>
                </a:solidFill>
              </a:rPr>
              <a:t>VARCHAR2(1000)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675120" y="3307515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AI-generated breach explanation text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28032" y="3759490"/>
            <a:ext cx="3858768" cy="415399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01184" y="379606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3A"/>
                </a:solidFill>
              </a:rPr>
              <a:t>STATUS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901184" y="399723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FA0"/>
                </a:solidFill>
              </a:rPr>
              <a:t>VARCHAR2(20)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675120" y="379606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OPEN  /  ACKNOWLEDGED  /  RESOLVED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28032" y="4248041"/>
            <a:ext cx="3858768" cy="415399"/>
          </a:xfrm>
          <a:prstGeom prst="rect">
            <a:avLst/>
          </a:prstGeom>
          <a:solidFill>
            <a:srgbClr val="F4F7FB"/>
          </a:solidFill>
          <a:ln w="5080">
            <a:solidFill>
              <a:srgbClr val="D0DC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01184" y="4284617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3A"/>
                </a:solidFill>
              </a:rPr>
              <a:t>REVIEWED_BY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901184" y="4485785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FA0"/>
                </a:solidFill>
              </a:rPr>
              <a:t>VARCHAR2(50)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675120" y="4284617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</a:rPr>
              <a:t>User who reviewed — audit trail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2179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" y="54864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Next Steps &amp; Prerequisites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73568" y="11887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0E9AA7"/>
                </a:solidFill>
              </a:rPr>
              <a:t>[ ORG LOGO ]</a:t>
            </a:r>
            <a:endParaRPr lang="en-US" sz="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" y="768096"/>
          <a:ext cx="848563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010912"/>
                <a:gridCol w="29260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Prerequisite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Why it matters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</a:rPr>
                        <a:t>BIC_KRI_CONFIG + BIC_CA_DATA  DDL or CSV export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7A8FA0"/>
                          </a:solidFill>
                        </a:rPr>
                        <a:t>Design NL2SQL schema and breach detector thresholds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</a:rPr>
                        <a:t>Sample 3-month KRI values  (anonymised ok)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7A8FA0"/>
                          </a:solidFill>
                        </a:rPr>
                        <a:t>Tune narrative generator prompts and validate accuracy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</a:rPr>
                        <a:t>LLM provider approval  (Gemini / Claude / self-hosted)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7A8FA0"/>
                          </a:solidFill>
                        </a:rPr>
                        <a:t>Confirm data egress policy before any API calls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</a:rPr>
                        <a:t>Oracle DB write access  (INSERT on 3 tables only)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7A8FA0"/>
                          </a:solidFill>
                        </a:rPr>
                        <a:t>Enable write-back for narratives, breach alerts and flags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</a:rPr>
                        <a:t>PPT / Reg Deck template structure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7A8FA0"/>
                          </a:solidFill>
                        </a:rPr>
                        <a:t>Auto-generate Reg Deck aligned to current monthly format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3A6B"/>
                          </a:solidFill>
                        </a:rPr>
                        <a:t>Access to Python backend service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7A8FA0"/>
                          </a:solidFill>
                        </a:rPr>
                        <a:t>Deploy AI endpoints alongside existing Services Layer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9" name="Text 6"/>
          <p:cNvSpPr/>
          <p:nvPr/>
        </p:nvSpPr>
        <p:spPr>
          <a:xfrm>
            <a:off x="329184" y="4480560"/>
            <a:ext cx="8485632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Ready to begin Phase 1 immediately — share BIC_KRI_CONFIG schema and confirm LLM provider to start.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264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26464"/>
            <a:ext cx="9144000" cy="640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" name="Shape 2"/>
          <p:cNvSpPr/>
          <p:nvPr/>
        </p:nvSpPr>
        <p:spPr>
          <a:xfrm>
            <a:off x="7406640" y="329184"/>
            <a:ext cx="1426464" cy="65836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329184"/>
            <a:ext cx="1426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E9AA7"/>
                </a:solidFill>
              </a:rPr>
              <a:t>[ ORG LOGO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0E9AA7"/>
                </a:solidFill>
              </a:rPr>
              <a:t>PLACE HERE 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64592"/>
            <a:ext cx="64008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168249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3A6B"/>
                </a:solidFill>
              </a:rPr>
              <a:t>AI Integration Plan  —  B&amp;I Data Metrics &amp; Controls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" y="2176272"/>
            <a:ext cx="8485632" cy="16459"/>
          </a:xfrm>
          <a:prstGeom prst="rect">
            <a:avLst/>
          </a:prstGeom>
          <a:solidFill>
            <a:srgbClr val="D0DCE8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2340864"/>
          <a:ext cx="6949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  <a:gridCol w="173736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0E9AA7"/>
                          </a:solidFill>
                        </a:rPr>
                        <a:t>5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2E6DB4"/>
                          </a:solidFill>
                        </a:rPr>
                        <a:t>7 weeks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6D3591"/>
                          </a:solidFill>
                        </a:rPr>
                        <a:t>UK·SGP·CEP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A7A3A"/>
                          </a:solidFill>
                        </a:rPr>
                        <a:t>Zero</a:t>
                      </a:r>
                      <a:endParaRPr lang="en-US" sz="22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8FA0"/>
                          </a:solidFill>
                        </a:rPr>
                        <a:t>AI Phases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8FA0"/>
                          </a:solidFill>
                        </a:rPr>
                        <a:t>to MVP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8FA0"/>
                          </a:solidFill>
                        </a:rPr>
                        <a:t>Regions Covered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8FA0"/>
                          </a:solidFill>
                        </a:rPr>
                        <a:t>Architecture Overhaul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1" name="Text 8"/>
          <p:cNvSpPr/>
          <p:nvPr/>
        </p:nvSpPr>
        <p:spPr>
          <a:xfrm>
            <a:off x="329184" y="4736592"/>
            <a:ext cx="8485632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0"/>
                </a:solidFill>
              </a:rPr>
              <a:t>March 2026  ·  B&amp;I Data Analytics  ·  Workstream 2: Controls Codification  ·  Confidential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2026-03-23T11:31:49Z</dcterms:created>
  <dcterms:modified xsi:type="dcterms:W3CDTF">2026-03-23T11:31:49Z</dcterms:modified>
</cp:coreProperties>
</file>